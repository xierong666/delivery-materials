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9" r:id="rId5"/>
    <p:sldId id="261" r:id="rId6"/>
    <p:sldId id="264" r:id="rId7"/>
    <p:sldId id="265" r:id="rId8"/>
    <p:sldId id="267" r:id="rId9"/>
    <p:sldId id="280" r:id="rId10"/>
    <p:sldId id="282" r:id="rId11"/>
    <p:sldId id="268" r:id="rId12"/>
    <p:sldId id="276" r:id="rId13"/>
    <p:sldId id="272" r:id="rId15"/>
  </p:sldIdLst>
  <p:sldSz cx="12192000" cy="6858000"/>
  <p:notesSz cx="6858000" cy="9144000"/>
  <p:embeddedFontLst>
    <p:embeddedFont>
      <p:font typeface="微软雅黑" panose="020B0503020204020204" charset="-122"/>
      <p:regular r:id="rId19"/>
    </p:embeddedFont>
    <p:embeddedFont>
      <p:font typeface="Noto Sans SC" panose="020B0200000000000000" charset="-122"/>
      <p:regular r:id="rId20"/>
    </p:embeddedFont>
    <p:embeddedFont>
      <p:font typeface="黑体" panose="02010609060101010101" charset="-122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724" userDrawn="1">
          <p15:clr>
            <a:srgbClr val="A4A3A4"/>
          </p15:clr>
        </p15:guide>
        <p15:guide id="2" pos="30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74" d="100"/>
          <a:sy n="74" d="100"/>
        </p:scale>
        <p:origin x="-1092" y="-90"/>
      </p:cViewPr>
      <p:guideLst>
        <p:guide orient="horz" pos="1724"/>
        <p:guide pos="30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cs"/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4.png"/><Relationship Id="rId20" Type="http://schemas.openxmlformats.org/officeDocument/2006/relationships/image" Target="../media/image13.png"/><Relationship Id="rId2" Type="http://schemas.openxmlformats.org/officeDocument/2006/relationships/tags" Target="../tags/tag17.xml"/><Relationship Id="rId19" Type="http://schemas.openxmlformats.org/officeDocument/2006/relationships/image" Target="../media/image12.png"/><Relationship Id="rId18" Type="http://schemas.openxmlformats.org/officeDocument/2006/relationships/tags" Target="../tags/tag32.xml"/><Relationship Id="rId17" Type="http://schemas.openxmlformats.org/officeDocument/2006/relationships/tags" Target="../tags/tag31.xml"/><Relationship Id="rId16" Type="http://schemas.openxmlformats.org/officeDocument/2006/relationships/tags" Target="../tags/tag30.xml"/><Relationship Id="rId15" Type="http://schemas.openxmlformats.org/officeDocument/2006/relationships/tags" Target="../tags/tag29.xml"/><Relationship Id="rId14" Type="http://schemas.openxmlformats.org/officeDocument/2006/relationships/image" Target="../media/image11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image" Target="../media/image17.png"/><Relationship Id="rId7" Type="http://schemas.openxmlformats.org/officeDocument/2006/relationships/tags" Target="../tags/tag37.xml"/><Relationship Id="rId6" Type="http://schemas.openxmlformats.org/officeDocument/2006/relationships/image" Target="../media/image16.png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8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1.png"/><Relationship Id="rId1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50.xml"/><Relationship Id="rId8" Type="http://schemas.openxmlformats.org/officeDocument/2006/relationships/image" Target="../media/image23.png"/><Relationship Id="rId7" Type="http://schemas.openxmlformats.org/officeDocument/2006/relationships/tags" Target="../tags/tag49.xml"/><Relationship Id="rId6" Type="http://schemas.openxmlformats.org/officeDocument/2006/relationships/image" Target="../media/image22.png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24.png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image" Target="../media/image15.png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25.png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image" Target="../media/image27.png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openxmlformats.org/officeDocument/2006/relationships/tags" Target="../tags/tag63.xml"/><Relationship Id="rId4" Type="http://schemas.openxmlformats.org/officeDocument/2006/relationships/image" Target="../media/image26.png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1" Type="http://schemas.openxmlformats.org/officeDocument/2006/relationships/notesSlide" Target="../notesSlides/notesSlide1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6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6655" y="1525651"/>
            <a:ext cx="7126715" cy="208597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15000"/>
              </a:lnSpc>
            </a:pPr>
            <a:r>
              <a:rPr lang="en-US" sz="5400" b="1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基于虚拟仿真的机器人抓取系统</a:t>
            </a:r>
            <a:r>
              <a:rPr lang="zh-CN" altLang="en-US" sz="5400" b="1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设计与实现</a:t>
            </a:r>
            <a:endParaRPr lang="zh-CN" altLang="en-US" sz="5400" b="1">
              <a:solidFill>
                <a:srgbClr val="1F1F1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55705" y="4293994"/>
            <a:ext cx="2800350" cy="50482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汇报人：</a:t>
            </a:r>
            <a:r>
              <a:rPr lang="zh-CN" altLang="en-US" sz="2400" b="1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谢荣</a:t>
            </a:r>
            <a:endParaRPr lang="zh-CN" altLang="en-US" sz="2400" b="1">
              <a:solidFill>
                <a:srgbClr val="1F1F1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93684" y="2559207"/>
            <a:ext cx="6316980" cy="2343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</a:p>
        </p:txBody>
      </p:sp>
      <p:sp>
        <p:nvSpPr>
          <p:cNvPr id="3" name="TextBox 3"/>
          <p:cNvSpPr txBox="1"/>
          <p:nvPr/>
        </p:nvSpPr>
        <p:spPr>
          <a:xfrm>
            <a:off x="2793684" y="2559207"/>
            <a:ext cx="6316980" cy="2343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</a:p>
        </p:txBody>
      </p:sp>
      <p:sp>
        <p:nvSpPr>
          <p:cNvPr id="4" name="TextBox 4"/>
          <p:cNvSpPr txBox="1"/>
          <p:nvPr/>
        </p:nvSpPr>
        <p:spPr>
          <a:xfrm>
            <a:off x="2793684" y="2559207"/>
            <a:ext cx="6316980" cy="234315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</a:p>
        </p:txBody>
      </p:sp>
      <p:sp>
        <p:nvSpPr>
          <p:cNvPr id="6" name="TextBox 6"/>
          <p:cNvSpPr txBox="1"/>
          <p:nvPr/>
        </p:nvSpPr>
        <p:spPr>
          <a:xfrm>
            <a:off x="1182244" y="3494380"/>
            <a:ext cx="2197085" cy="766889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12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CATALOGUE</a:t>
            </a:r>
            <a:endParaRPr lang="en-US" sz="12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28786" y="2781296"/>
            <a:ext cx="3104002" cy="9772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6600" b="1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 录</a:t>
            </a:r>
            <a:endParaRPr lang="en-US" sz="6600" b="1">
              <a:solidFill>
                <a:srgbClr val="1F1F1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8"/>
          <p:cNvSpPr txBox="1"/>
          <p:nvPr>
            <p:custDataLst>
              <p:tags r:id="rId2"/>
            </p:custDataLst>
          </p:nvPr>
        </p:nvSpPr>
        <p:spPr>
          <a:xfrm>
            <a:off x="4322393" y="1613037"/>
            <a:ext cx="653639" cy="615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0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01</a:t>
            </a:r>
            <a:endParaRPr lang="en-US" sz="40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3"/>
            </p:custDataLst>
          </p:nvPr>
        </p:nvSpPr>
        <p:spPr>
          <a:xfrm>
            <a:off x="5079703" y="1642337"/>
            <a:ext cx="2974760" cy="553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背景</a:t>
            </a: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与意义</a:t>
            </a:r>
            <a:endParaRPr lang="zh-CN" altLang="en-US" sz="3600" b="1">
              <a:solidFill>
                <a:srgbClr val="23232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0" name="TextBox 10"/>
          <p:cNvSpPr txBox="1"/>
          <p:nvPr>
            <p:custDataLst>
              <p:tags r:id="rId4"/>
            </p:custDataLst>
          </p:nvPr>
        </p:nvSpPr>
        <p:spPr>
          <a:xfrm>
            <a:off x="4303984" y="2375387"/>
            <a:ext cx="653639" cy="615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0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02</a:t>
            </a:r>
            <a:endParaRPr lang="en-US" sz="40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1" name="TextBox 11"/>
          <p:cNvSpPr txBox="1"/>
          <p:nvPr>
            <p:custDataLst>
              <p:tags r:id="rId5"/>
            </p:custDataLst>
          </p:nvPr>
        </p:nvSpPr>
        <p:spPr>
          <a:xfrm>
            <a:off x="5061293" y="2427090"/>
            <a:ext cx="2797417" cy="553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研究内容</a:t>
            </a:r>
            <a:endParaRPr lang="zh-CN" altLang="en-US" sz="3600" b="1">
              <a:solidFill>
                <a:srgbClr val="23232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2" name="TextBox 12"/>
          <p:cNvSpPr txBox="1"/>
          <p:nvPr>
            <p:custDataLst>
              <p:tags r:id="rId6"/>
            </p:custDataLst>
          </p:nvPr>
        </p:nvSpPr>
        <p:spPr>
          <a:xfrm>
            <a:off x="4303984" y="3080573"/>
            <a:ext cx="653639" cy="615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0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03</a:t>
            </a:r>
            <a:endParaRPr lang="en-US" sz="40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7"/>
            </p:custDataLst>
          </p:nvPr>
        </p:nvSpPr>
        <p:spPr>
          <a:xfrm>
            <a:off x="5061585" y="3132455"/>
            <a:ext cx="3439795" cy="553720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系统设计与</a:t>
            </a: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实现</a:t>
            </a:r>
            <a:endParaRPr lang="zh-CN" altLang="en-US" sz="3600" b="1">
              <a:solidFill>
                <a:srgbClr val="23232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8"/>
            </p:custDataLst>
          </p:nvPr>
        </p:nvSpPr>
        <p:spPr>
          <a:xfrm>
            <a:off x="4977765" y="3779520"/>
            <a:ext cx="2645410" cy="6343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成果</a:t>
            </a:r>
            <a:r>
              <a:rPr lang="zh-CN" altLang="en-US" sz="3600" b="1">
                <a:solidFill>
                  <a:srgbClr val="23232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  <a:sym typeface="+mn-ea"/>
              </a:rPr>
              <a:t>展示</a:t>
            </a:r>
            <a:endParaRPr lang="zh-CN" altLang="en-US" sz="3600" b="1">
              <a:solidFill>
                <a:srgbClr val="23232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+mn-ea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lang="zh-CN" altLang="en-US" sz="3600" b="1">
              <a:solidFill>
                <a:srgbClr val="232323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  <a:sym typeface="+mn-ea"/>
            </a:endParaRPr>
          </a:p>
        </p:txBody>
      </p:sp>
      <p:sp>
        <p:nvSpPr>
          <p:cNvPr id="14" name="TextBox 12"/>
          <p:cNvSpPr txBox="1"/>
          <p:nvPr>
            <p:custDataLst>
              <p:tags r:id="rId9"/>
            </p:custDataLst>
          </p:nvPr>
        </p:nvSpPr>
        <p:spPr>
          <a:xfrm>
            <a:off x="4292368" y="3779990"/>
            <a:ext cx="653639" cy="61531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pPr>
              <a:lnSpc>
                <a:spcPct val="100000"/>
              </a:lnSpc>
              <a:spcBef>
                <a:spcPts val="375"/>
              </a:spcBef>
            </a:pPr>
            <a:r>
              <a:rPr lang="en-US" sz="40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04</a:t>
            </a:r>
            <a:endParaRPr lang="en-US" sz="40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nector 2"/>
          <p:cNvCxnSpPr/>
          <p:nvPr/>
        </p:nvCxnSpPr>
        <p:spPr>
          <a:xfrm>
            <a:off x="797709" y="1834831"/>
            <a:ext cx="0" cy="3825594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" name="Connector 6"/>
          <p:cNvCxnSpPr/>
          <p:nvPr/>
        </p:nvCxnSpPr>
        <p:spPr>
          <a:xfrm>
            <a:off x="7086770" y="1807526"/>
            <a:ext cx="0" cy="3822812"/>
          </a:xfrm>
          <a:prstGeom prst="line">
            <a:avLst/>
          </a:prstGeom>
          <a:ln w="12700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AutoShape 9"/>
          <p:cNvSpPr/>
          <p:nvPr/>
        </p:nvSpPr>
        <p:spPr>
          <a:xfrm>
            <a:off x="829945" y="6015990"/>
            <a:ext cx="9308465" cy="511810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</p:sp>
      <p:sp>
        <p:nvSpPr>
          <p:cNvPr id="10" name="AutoShape 10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19" name="Freeform 19"/>
          <p:cNvSpPr/>
          <p:nvPr/>
        </p:nvSpPr>
        <p:spPr>
          <a:xfrm rot="16200000">
            <a:off x="3776345" y="-1490345"/>
            <a:ext cx="317500" cy="6277610"/>
          </a:xfrm>
          <a:custGeom>
            <a:avLst/>
            <a:gdLst/>
            <a:ahLst/>
            <a:cxnLst/>
            <a:rect l="l" t="t" r="r" b="b"/>
            <a:pathLst>
              <a:path w="21600" h="21595">
                <a:moveTo>
                  <a:pt x="13" y="21595"/>
                </a:moveTo>
                <a:lnTo>
                  <a:pt x="9790" y="21595"/>
                </a:lnTo>
                <a:cubicBezTo>
                  <a:pt x="11407" y="21600"/>
                  <a:pt x="12989" y="21570"/>
                  <a:pt x="14123" y="21512"/>
                </a:cubicBezTo>
                <a:cubicBezTo>
                  <a:pt x="15046" y="21465"/>
                  <a:pt x="15601" y="21403"/>
                  <a:pt x="15687" y="21337"/>
                </a:cubicBezTo>
                <a:lnTo>
                  <a:pt x="15687" y="11183"/>
                </a:lnTo>
                <a:cubicBezTo>
                  <a:pt x="15796" y="11107"/>
                  <a:pt x="16391" y="11035"/>
                  <a:pt x="17382" y="10978"/>
                </a:cubicBezTo>
                <a:cubicBezTo>
                  <a:pt x="18467" y="10915"/>
                  <a:pt x="19960" y="10873"/>
                  <a:pt x="21600" y="10859"/>
                </a:cubicBezTo>
                <a:cubicBezTo>
                  <a:pt x="20179" y="10858"/>
                  <a:pt x="18813" y="10831"/>
                  <a:pt x="17740" y="10785"/>
                </a:cubicBezTo>
                <a:cubicBezTo>
                  <a:pt x="16383" y="10725"/>
                  <a:pt x="15606" y="10640"/>
                  <a:pt x="15613" y="10550"/>
                </a:cubicBezTo>
                <a:lnTo>
                  <a:pt x="15613" y="280"/>
                </a:lnTo>
                <a:cubicBezTo>
                  <a:pt x="15656" y="207"/>
                  <a:pt x="15122" y="137"/>
                  <a:pt x="14129" y="85"/>
                </a:cubicBezTo>
                <a:cubicBezTo>
                  <a:pt x="13138" y="32"/>
                  <a:pt x="11771" y="2"/>
                  <a:pt x="10330" y="0"/>
                </a:cubicBezTo>
                <a:lnTo>
                  <a:pt x="0" y="0"/>
                </a:lnTo>
              </a:path>
            </a:pathLst>
          </a:custGeom>
          <a:noFill/>
          <a:ln w="28575" cmpd="sng">
            <a:solidFill>
              <a:schemeClr val="accent1">
                <a:shade val="50000"/>
              </a:schemeClr>
            </a:solidFill>
            <a:prstDash val="solid"/>
            <a:miter lim="800000"/>
          </a:ln>
        </p:spPr>
      </p:sp>
      <p:sp>
        <p:nvSpPr>
          <p:cNvPr id="21" name="TextBox 21"/>
          <p:cNvSpPr txBox="1"/>
          <p:nvPr/>
        </p:nvSpPr>
        <p:spPr>
          <a:xfrm>
            <a:off x="1144905" y="6096000"/>
            <a:ext cx="7225030" cy="419735"/>
          </a:xfrm>
          <a:prstGeom prst="rect">
            <a:avLst/>
          </a:prstGeom>
        </p:spPr>
        <p:txBody>
          <a:bodyPr vert="horz" wrap="square" lIns="25432" tIns="25432" rIns="25432" bIns="25432" rtlCol="0" anchor="t" anchorCtr="0">
            <a:sp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zh-CN" altLang="en-US" sz="24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货运</a:t>
            </a:r>
            <a:r>
              <a:rPr lang="en-US" sz="24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机器人抓取</a:t>
            </a:r>
            <a:endParaRPr lang="en-US" sz="24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41375" y="5511800"/>
            <a:ext cx="1334770" cy="33401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2219727" y="5511745"/>
            <a:ext cx="1388846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>
            <a:off x="3670392" y="5511745"/>
            <a:ext cx="1266774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9" name="AutoShape 29"/>
          <p:cNvSpPr/>
          <p:nvPr/>
        </p:nvSpPr>
        <p:spPr>
          <a:xfrm>
            <a:off x="4976678" y="5511745"/>
            <a:ext cx="1109783" cy="334111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1" name="AutoShape 31"/>
          <p:cNvSpPr/>
          <p:nvPr/>
        </p:nvSpPr>
        <p:spPr>
          <a:xfrm>
            <a:off x="6161405" y="5511800"/>
            <a:ext cx="931545" cy="33401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33" name="AutoShape 33"/>
          <p:cNvSpPr/>
          <p:nvPr/>
        </p:nvSpPr>
        <p:spPr>
          <a:xfrm>
            <a:off x="7167880" y="5511800"/>
            <a:ext cx="4119880" cy="334010"/>
          </a:xfrm>
          <a:prstGeom prst="rect">
            <a:avLst/>
          </a:prstGeom>
          <a:solidFill>
            <a:schemeClr val="accent3">
              <a:alpha val="100000"/>
            </a:schemeClr>
          </a:solidFill>
        </p:spPr>
      </p:sp>
      <p:sp>
        <p:nvSpPr>
          <p:cNvPr id="41" name="AutoShape 41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44" name="AutoShape 44"/>
          <p:cNvSpPr/>
          <p:nvPr/>
        </p:nvSpPr>
        <p:spPr>
          <a:xfrm>
            <a:off x="0" y="0"/>
            <a:ext cx="19050" cy="19050"/>
          </a:xfrm>
          <a:prstGeom prst="rightArrow">
            <a:avLst/>
          </a:prstGeom>
          <a:noFill/>
        </p:spPr>
      </p:sp>
      <p:sp>
        <p:nvSpPr>
          <p:cNvPr id="61" name="TextBox 61"/>
          <p:cNvSpPr txBox="1"/>
          <p:nvPr/>
        </p:nvSpPr>
        <p:spPr>
          <a:xfrm>
            <a:off x="-635" y="-635"/>
            <a:ext cx="11316335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一、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背景与意义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990600" y="1698625"/>
            <a:ext cx="6025515" cy="35490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en-US" altLang="zh-CN" sz="24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传统的机器人实验往往受限于硬件成本、和场地安全等实验条件，难以进行大规模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与高频率的测试。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 indent="457200" algn="just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而仿真实验能够通过虚拟环境来规避传统问题，可以进行多次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的实验模拟与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算法验证。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成本低、安全性高、可重复性强。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4" name="图片 3" descr="R"/>
          <p:cNvPicPr>
            <a:picLocks noChangeAspect="1"/>
          </p:cNvPicPr>
          <p:nvPr/>
        </p:nvPicPr>
        <p:blipFill>
          <a:blip r:embed="rId2"/>
          <a:srcRect l="3420" t="2628" r="21152" b="25592"/>
          <a:stretch>
            <a:fillRect/>
          </a:stretch>
        </p:blipFill>
        <p:spPr>
          <a:xfrm>
            <a:off x="7149465" y="1586865"/>
            <a:ext cx="4142740" cy="3872865"/>
          </a:xfrm>
          <a:prstGeom prst="rect">
            <a:avLst/>
          </a:prstGeom>
        </p:spPr>
      </p:pic>
      <p:sp>
        <p:nvSpPr>
          <p:cNvPr id="14" name="AutoShape 27"/>
          <p:cNvSpPr/>
          <p:nvPr/>
        </p:nvSpPr>
        <p:spPr>
          <a:xfrm>
            <a:off x="796290" y="1261110"/>
            <a:ext cx="10495280" cy="254635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1"/>
          <p:cNvSpPr txBox="1"/>
          <p:nvPr/>
        </p:nvSpPr>
        <p:spPr>
          <a:xfrm>
            <a:off x="-635" y="-635"/>
            <a:ext cx="3611880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二、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研究内容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7" name="AutoShape 12"/>
          <p:cNvSpPr/>
          <p:nvPr>
            <p:custDataLst>
              <p:tags r:id="rId2"/>
            </p:custDataLst>
          </p:nvPr>
        </p:nvSpPr>
        <p:spPr>
          <a:xfrm>
            <a:off x="137795" y="1144905"/>
            <a:ext cx="5022850" cy="5453380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4221480"/>
            <a:ext cx="4758055" cy="2376805"/>
          </a:xfrm>
          <a:prstGeom prst="rect">
            <a:avLst/>
          </a:prstGeom>
        </p:spPr>
      </p:pic>
      <p:pic>
        <p:nvPicPr>
          <p:cNvPr id="15" name="图片 14" descr="4e0896542a9541b4bc13ae8a1b3126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0200" y="1143000"/>
            <a:ext cx="6519545" cy="29889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8640" y="3276600"/>
            <a:ext cx="1221105" cy="8420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29870" y="1229360"/>
            <a:ext cx="4753610" cy="5220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目前虚拟仿真技术在机器人抓取研究中应用丰富。如</a:t>
            </a:r>
            <a:r>
              <a:rPr lang="en-US" altLang="zh-CN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Gazebo</a:t>
            </a:r>
            <a:r>
              <a:rPr lang="zh-CN" altLang="en-US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MuJoCo</a:t>
            </a:r>
            <a:r>
              <a:rPr lang="zh-CN" altLang="en-US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等机器人仿真平台</a:t>
            </a:r>
            <a:r>
              <a:rPr lang="zh-CN" altLang="en-US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实现了机械臂建模、场景搭建与算法验证</a:t>
            </a:r>
            <a:r>
              <a:rPr lang="zh-CN" altLang="en-US" sz="2400" b="1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400" b="1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 algn="just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其中，算法验证是系统核心，分为三个部分：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目标识别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模块（抓取什么物体）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抓取姿态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模块（怎么抓取物体）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4572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运动控制模块（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开始抓取物体）</a:t>
            </a:r>
            <a:endParaRPr lang="zh-CN" altLang="en-US" sz="2400"/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b="1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/>
          </a:p>
        </p:txBody>
      </p:sp>
      <p:sp>
        <p:nvSpPr>
          <p:cNvPr id="23" name="AutoShape 23"/>
          <p:cNvSpPr/>
          <p:nvPr/>
        </p:nvSpPr>
        <p:spPr>
          <a:xfrm>
            <a:off x="221615" y="6172200"/>
            <a:ext cx="1149985" cy="33401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5" name="AutoShape 25"/>
          <p:cNvSpPr/>
          <p:nvPr/>
        </p:nvSpPr>
        <p:spPr>
          <a:xfrm>
            <a:off x="1748155" y="6172200"/>
            <a:ext cx="1546225" cy="33401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  <p:sp>
        <p:nvSpPr>
          <p:cNvPr id="27" name="AutoShape 27"/>
          <p:cNvSpPr/>
          <p:nvPr/>
        </p:nvSpPr>
        <p:spPr>
          <a:xfrm>
            <a:off x="3714750" y="6172200"/>
            <a:ext cx="1341755" cy="334010"/>
          </a:xfrm>
          <a:prstGeom prst="rect">
            <a:avLst/>
          </a:prstGeom>
          <a:solidFill>
            <a:schemeClr val="accent1">
              <a:alpha val="100000"/>
            </a:schemeClr>
          </a:solid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953000" y="1447800"/>
            <a:ext cx="2785110" cy="44519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模型建立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模块实现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en-US" altLang="zh-CN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</a:rPr>
              <a:t>集成仿真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  <a:p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-635" y="-635"/>
            <a:ext cx="5349240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三、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系统设计与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实现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7200" y="4419600"/>
            <a:ext cx="2933700" cy="16465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0365" y="990600"/>
            <a:ext cx="3401695" cy="164274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2860040"/>
            <a:ext cx="3402330" cy="1714500"/>
          </a:xfrm>
          <a:prstGeom prst="rect">
            <a:avLst/>
          </a:prstGeom>
        </p:spPr>
      </p:pic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4114954" y="1371690"/>
            <a:ext cx="762000" cy="762000"/>
          </a:xfrm>
          <a:prstGeom prst="ellips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AutoShape 11"/>
          <p:cNvSpPr/>
          <p:nvPr>
            <p:custDataLst>
              <p:tags r:id="rId6"/>
            </p:custDataLst>
          </p:nvPr>
        </p:nvSpPr>
        <p:spPr>
          <a:xfrm>
            <a:off x="4114954" y="304809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p>
            <a:pPr algn="ctr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AutoShape 11"/>
          <p:cNvSpPr/>
          <p:nvPr>
            <p:custDataLst>
              <p:tags r:id="rId7"/>
            </p:custDataLst>
          </p:nvPr>
        </p:nvSpPr>
        <p:spPr>
          <a:xfrm>
            <a:off x="4114954" y="4724490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p>
            <a:pPr algn="ctr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90600" y="2954020"/>
            <a:ext cx="2524125" cy="991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4800" b="1">
                <a:solidFill>
                  <a:schemeClr val="bg1">
                    <a:lumMod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Design</a:t>
            </a:r>
            <a:endParaRPr lang="en-US" altLang="zh-CN" sz="4800" b="1">
              <a:solidFill>
                <a:schemeClr val="bg1">
                  <a:lumMod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>
            <p:custDataLst>
              <p:tags r:id="rId2"/>
            </p:custDataLst>
          </p:nvPr>
        </p:nvSpPr>
        <p:spPr>
          <a:xfrm>
            <a:off x="7315200" y="2971800"/>
            <a:ext cx="4645660" cy="9277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进行</a:t>
            </a: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关节限位和运动范围</a:t>
            </a:r>
            <a:r>
              <a:rPr lang="zh-CN" altLang="en-US" sz="2400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设置</a:t>
            </a:r>
            <a:endParaRPr lang="zh-CN" altLang="en-US" sz="2400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7325350" y="2591054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关节自由度配置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6317134" y="2667248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6327294" y="4114794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AutoShape 11"/>
          <p:cNvSpPr/>
          <p:nvPr>
            <p:custDataLst>
              <p:tags r:id="rId6"/>
            </p:custDataLst>
          </p:nvPr>
        </p:nvSpPr>
        <p:spPr>
          <a:xfrm>
            <a:off x="6325389" y="1308825"/>
            <a:ext cx="762000" cy="762000"/>
          </a:xfrm>
          <a:prstGeom prst="ellipse">
            <a:avLst/>
          </a:prstGeom>
          <a:solidFill>
            <a:schemeClr val="lt1">
              <a:alpha val="100000"/>
            </a:schemeClr>
          </a:solidFill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TextBox 12"/>
          <p:cNvSpPr txBox="1"/>
          <p:nvPr>
            <p:custDataLst>
              <p:tags r:id="rId7"/>
            </p:custDataLst>
          </p:nvPr>
        </p:nvSpPr>
        <p:spPr>
          <a:xfrm>
            <a:off x="6324437" y="1448842"/>
            <a:ext cx="763905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01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3" name="TextBox 13"/>
          <p:cNvSpPr txBox="1"/>
          <p:nvPr>
            <p:custDataLst>
              <p:tags r:id="rId8"/>
            </p:custDataLst>
          </p:nvPr>
        </p:nvSpPr>
        <p:spPr>
          <a:xfrm>
            <a:off x="6316181" y="2807266"/>
            <a:ext cx="763905" cy="48196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02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5" name="TextBox 15"/>
          <p:cNvSpPr txBox="1"/>
          <p:nvPr>
            <p:custDataLst>
              <p:tags r:id="rId9"/>
            </p:custDataLst>
          </p:nvPr>
        </p:nvSpPr>
        <p:spPr>
          <a:xfrm>
            <a:off x="6324437" y="4265606"/>
            <a:ext cx="763905" cy="460375"/>
          </a:xfrm>
          <a:prstGeom prst="rect">
            <a:avLst/>
          </a:prstGeom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03</a:t>
            </a:r>
            <a:endParaRPr lang="en-US" sz="2400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6" name="TextBox 16"/>
          <p:cNvSpPr txBox="1"/>
          <p:nvPr>
            <p:custDataLst>
              <p:tags r:id="rId10"/>
            </p:custDataLst>
          </p:nvPr>
        </p:nvSpPr>
        <p:spPr>
          <a:xfrm>
            <a:off x="7315200" y="1676400"/>
            <a:ext cx="4877435" cy="556260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2400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根据抓取任务需求设计机械臂模型</a:t>
            </a:r>
            <a:endParaRPr lang="en-US" sz="2400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17" name="TextBox 17"/>
          <p:cNvSpPr txBox="1"/>
          <p:nvPr>
            <p:custDataLst>
              <p:tags r:id="rId11"/>
            </p:custDataLst>
          </p:nvPr>
        </p:nvSpPr>
        <p:spPr>
          <a:xfrm>
            <a:off x="7249039" y="1179928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多刚体动力学建模</a:t>
            </a:r>
            <a:endParaRPr 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8" name="TextBox 18"/>
          <p:cNvSpPr txBox="1"/>
          <p:nvPr>
            <p:custDataLst>
              <p:tags r:id="rId12"/>
            </p:custDataLst>
          </p:nvPr>
        </p:nvSpPr>
        <p:spPr>
          <a:xfrm>
            <a:off x="7325360" y="4464685"/>
            <a:ext cx="4725670" cy="74993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2400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提供控制运动的节点</a:t>
            </a:r>
            <a:endParaRPr lang="zh-CN" altLang="en-US" sz="2400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19" name="TextBox 19"/>
          <p:cNvSpPr txBox="1"/>
          <p:nvPr>
            <p:custDataLst>
              <p:tags r:id="rId13"/>
            </p:custDataLst>
          </p:nvPr>
        </p:nvSpPr>
        <p:spPr>
          <a:xfrm>
            <a:off x="7314447" y="4002215"/>
            <a:ext cx="3280773" cy="560841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关节点的端口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pic>
        <p:nvPicPr>
          <p:cNvPr id="7" name="图片 6"/>
          <p:cNvPicPr/>
          <p:nvPr/>
        </p:nvPicPr>
        <p:blipFill>
          <a:blip r:embed="rId14"/>
          <a:srcRect l="18523" t="4710" r="10033" b="59"/>
          <a:stretch>
            <a:fillRect/>
          </a:stretch>
        </p:blipFill>
        <p:spPr>
          <a:xfrm>
            <a:off x="85725" y="1125220"/>
            <a:ext cx="2936875" cy="2865755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85725" y="5925185"/>
            <a:ext cx="10530205" cy="765175"/>
          </a:xfrm>
          <a:prstGeom prst="homePlate">
            <a:avLst>
              <a:gd name="adj" fmla="val 50000"/>
            </a:avLst>
          </a:prstGeom>
          <a:solidFill>
            <a:schemeClr val="accent2">
              <a:alpha val="100000"/>
            </a:schemeClr>
          </a:solidFill>
        </p:spPr>
        <p:txBody>
          <a:bodyPr/>
          <a:p>
            <a:pPr algn="l">
              <a:lnSpc>
                <a:spcPct val="120000"/>
              </a:lnSpc>
            </a:pPr>
            <a:r>
              <a:rPr lang="en-US" altLang="zh-CN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Blender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五关节机械臂</a:t>
            </a:r>
            <a:r>
              <a:rPr lang="zh-CN" altLang="en-US" sz="3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</a:t>
            </a:r>
            <a:endParaRPr lang="zh-CN" altLang="en-US" sz="30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2" name="Group 7"/>
          <p:cNvGrpSpPr/>
          <p:nvPr>
            <p:custDataLst>
              <p:tags r:id="rId15"/>
            </p:custDataLst>
          </p:nvPr>
        </p:nvGrpSpPr>
        <p:grpSpPr>
          <a:xfrm rot="0">
            <a:off x="6104255" y="1125855"/>
            <a:ext cx="188595" cy="4977130"/>
            <a:chOff x="838570" y="533649"/>
            <a:chExt cx="197731" cy="5502468"/>
          </a:xfrm>
        </p:grpSpPr>
        <p:sp>
          <p:nvSpPr>
            <p:cNvPr id="23" name="AutoShape 8"/>
            <p:cNvSpPr/>
            <p:nvPr>
              <p:custDataLst>
                <p:tags r:id="rId16"/>
              </p:custDataLst>
            </p:nvPr>
          </p:nvSpPr>
          <p:spPr>
            <a:xfrm>
              <a:off x="839115" y="1420284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</p:sp>
        <p:cxnSp>
          <p:nvCxnSpPr>
            <p:cNvPr id="25" name="Connector 11"/>
            <p:cNvCxnSpPr/>
            <p:nvPr>
              <p:custDataLst>
                <p:tags r:id="rId17"/>
              </p:custDataLst>
            </p:nvPr>
          </p:nvCxnSpPr>
          <p:spPr>
            <a:xfrm>
              <a:off x="924634" y="533649"/>
              <a:ext cx="35406" cy="5502468"/>
            </a:xfrm>
            <a:prstGeom prst="line">
              <a:avLst/>
            </a:prstGeom>
            <a:ln w="19050">
              <a:solidFill>
                <a:schemeClr val="accent1"/>
              </a:solidFill>
              <a:prstDash val="dash"/>
              <a:headEnd type="none"/>
              <a:tailEnd type="none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24" name="AutoShape 10"/>
            <p:cNvSpPr/>
            <p:nvPr>
              <p:custDataLst>
                <p:tags r:id="rId18"/>
              </p:custDataLst>
            </p:nvPr>
          </p:nvSpPr>
          <p:spPr>
            <a:xfrm>
              <a:off x="838570" y="3648008"/>
              <a:ext cx="197186" cy="197186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</p:spPr>
          <p:txBody>
            <a:bodyPr/>
            <a:p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-635" y="-635"/>
            <a:ext cx="5854065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1" name="图片 13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7155" y="4110355"/>
            <a:ext cx="5958205" cy="1751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图片 4"/>
          <p:cNvPicPr>
            <a:picLocks noChangeAspect="1"/>
          </p:cNvPicPr>
          <p:nvPr/>
        </p:nvPicPr>
        <p:blipFill>
          <a:blip r:embed="rId20"/>
          <a:srcRect l="40632" t="34545" r="3188" b="10808"/>
          <a:stretch>
            <a:fillRect/>
          </a:stretch>
        </p:blipFill>
        <p:spPr>
          <a:xfrm>
            <a:off x="3198495" y="2867025"/>
            <a:ext cx="2830195" cy="1139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图片 1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205480" y="1125220"/>
            <a:ext cx="2804160" cy="1602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989580"/>
            <a:ext cx="12192000" cy="3868420"/>
          </a:xfrm>
          <a:prstGeom prst="rect">
            <a:avLst/>
          </a:prstGeom>
        </p:spPr>
      </p:pic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228600" y="1176020"/>
            <a:ext cx="5257165" cy="2164715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351790" y="1294130"/>
            <a:ext cx="5001895" cy="441325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模块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流程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351790" y="1659890"/>
            <a:ext cx="5046980" cy="118681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图像采集：获取</a:t>
            </a:r>
            <a:r>
              <a:rPr lang="en-US" altLang="zh-CN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中布置摄像机的图像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目标检测：</a:t>
            </a:r>
            <a:r>
              <a:rPr lang="en-US" altLang="zh-CN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YOLO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识别物体并生成位置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数据处理：筛选并转换数据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的世界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坐标系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回传数据：将数据处理后传入</a:t>
            </a:r>
            <a:r>
              <a:rPr lang="en-US" altLang="zh-CN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Unity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2"/>
          <p:cNvCxnSpPr/>
          <p:nvPr/>
        </p:nvCxnSpPr>
        <p:spPr>
          <a:xfrm>
            <a:off x="5714514" y="1185861"/>
            <a:ext cx="0" cy="552005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nector 2"/>
          <p:cNvCxnSpPr/>
          <p:nvPr/>
        </p:nvCxnSpPr>
        <p:spPr>
          <a:xfrm>
            <a:off x="6070749" y="1176336"/>
            <a:ext cx="0" cy="55626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TextBox 61"/>
          <p:cNvSpPr txBox="1"/>
          <p:nvPr/>
        </p:nvSpPr>
        <p:spPr>
          <a:xfrm>
            <a:off x="-635" y="-635"/>
            <a:ext cx="4442460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目标识别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4"/>
          <p:cNvSpPr/>
          <p:nvPr>
            <p:custDataLst>
              <p:tags r:id="rId5"/>
            </p:custDataLst>
          </p:nvPr>
        </p:nvSpPr>
        <p:spPr>
          <a:xfrm>
            <a:off x="6387465" y="1143000"/>
            <a:ext cx="5106035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数据传输线程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7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3815" y="1524000"/>
            <a:ext cx="5099685" cy="208407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AutoShape 4"/>
          <p:cNvSpPr/>
          <p:nvPr>
            <p:custDataLst>
              <p:tags r:id="rId7"/>
            </p:custDataLst>
          </p:nvPr>
        </p:nvSpPr>
        <p:spPr>
          <a:xfrm>
            <a:off x="6426835" y="3937635"/>
            <a:ext cx="5061585" cy="3562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转换世界坐标系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5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6426835" y="4267200"/>
            <a:ext cx="5071110" cy="171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AutoShape 4"/>
          <p:cNvSpPr/>
          <p:nvPr>
            <p:custDataLst>
              <p:tags r:id="rId9"/>
            </p:custDataLst>
          </p:nvPr>
        </p:nvSpPr>
        <p:spPr>
          <a:xfrm>
            <a:off x="838200" y="3493770"/>
            <a:ext cx="3992245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rcRect t="4125" b="6831"/>
          <a:stretch>
            <a:fillRect/>
          </a:stretch>
        </p:blipFill>
        <p:spPr>
          <a:xfrm>
            <a:off x="838200" y="3865245"/>
            <a:ext cx="3991610" cy="2168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3041015"/>
            <a:ext cx="12192635" cy="3862070"/>
          </a:xfrm>
          <a:prstGeom prst="rect">
            <a:avLst/>
          </a:prstGeom>
        </p:spPr>
      </p:pic>
      <p:sp>
        <p:nvSpPr>
          <p:cNvPr id="7" name="AutoShape 7"/>
          <p:cNvSpPr/>
          <p:nvPr>
            <p:custDataLst>
              <p:tags r:id="rId2"/>
            </p:custDataLst>
          </p:nvPr>
        </p:nvSpPr>
        <p:spPr>
          <a:xfrm>
            <a:off x="217805" y="1143000"/>
            <a:ext cx="5293995" cy="2108835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8" name="TextBox 8"/>
          <p:cNvSpPr txBox="1"/>
          <p:nvPr>
            <p:custDataLst>
              <p:tags r:id="rId3"/>
            </p:custDataLst>
          </p:nvPr>
        </p:nvSpPr>
        <p:spPr>
          <a:xfrm>
            <a:off x="374015" y="1219200"/>
            <a:ext cx="4984115" cy="441325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模块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流程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9" name="TextBox 9"/>
          <p:cNvSpPr txBox="1"/>
          <p:nvPr>
            <p:custDataLst>
              <p:tags r:id="rId4"/>
            </p:custDataLst>
          </p:nvPr>
        </p:nvSpPr>
        <p:spPr>
          <a:xfrm>
            <a:off x="385445" y="1600200"/>
            <a:ext cx="5328920" cy="1702435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图像采集：获取</a:t>
            </a:r>
            <a:r>
              <a:rPr lang="en-US" altLang="zh-CN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Unity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中生成深度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图像数据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姿态预测：</a:t>
            </a:r>
            <a:r>
              <a:rPr lang="en-US" altLang="zh-CN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GraspNet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生成抓取姿态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数据处理：筛选并转换数据世界坐标系</a:t>
            </a:r>
            <a:endParaRPr lang="en-US" altLang="zh-CN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回传数据：将数据处理后传入</a:t>
            </a:r>
            <a:r>
              <a:rPr lang="en-US" altLang="zh-CN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Unity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2"/>
          <p:cNvCxnSpPr/>
          <p:nvPr/>
        </p:nvCxnSpPr>
        <p:spPr>
          <a:xfrm>
            <a:off x="5714514" y="1185861"/>
            <a:ext cx="0" cy="552005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nector 2"/>
          <p:cNvCxnSpPr/>
          <p:nvPr/>
        </p:nvCxnSpPr>
        <p:spPr>
          <a:xfrm>
            <a:off x="6070749" y="1176336"/>
            <a:ext cx="0" cy="55626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TextBox 61"/>
          <p:cNvSpPr txBox="1"/>
          <p:nvPr/>
        </p:nvSpPr>
        <p:spPr>
          <a:xfrm>
            <a:off x="-635" y="-635"/>
            <a:ext cx="4267835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抓取姿态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AutoShape 4"/>
          <p:cNvSpPr/>
          <p:nvPr>
            <p:custDataLst>
              <p:tags r:id="rId5"/>
            </p:custDataLst>
          </p:nvPr>
        </p:nvSpPr>
        <p:spPr>
          <a:xfrm>
            <a:off x="6426835" y="1143000"/>
            <a:ext cx="5106035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生成的深度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图像数据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AutoShape 4"/>
          <p:cNvSpPr/>
          <p:nvPr>
            <p:custDataLst>
              <p:tags r:id="rId6"/>
            </p:custDataLst>
          </p:nvPr>
        </p:nvSpPr>
        <p:spPr>
          <a:xfrm>
            <a:off x="6426835" y="3810000"/>
            <a:ext cx="5106035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GraspNet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数据传输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rcRect l="2713" r="5042" b="3039"/>
          <a:stretch>
            <a:fillRect/>
          </a:stretch>
        </p:blipFill>
        <p:spPr>
          <a:xfrm>
            <a:off x="6426835" y="1524000"/>
            <a:ext cx="5100320" cy="204597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835" y="4191000"/>
            <a:ext cx="5097780" cy="1771650"/>
          </a:xfrm>
          <a:prstGeom prst="rect">
            <a:avLst/>
          </a:prstGeom>
        </p:spPr>
      </p:pic>
      <p:sp>
        <p:nvSpPr>
          <p:cNvPr id="21" name="AutoShape 4"/>
          <p:cNvSpPr/>
          <p:nvPr>
            <p:custDataLst>
              <p:tags r:id="rId9"/>
            </p:custDataLst>
          </p:nvPr>
        </p:nvSpPr>
        <p:spPr>
          <a:xfrm>
            <a:off x="1143000" y="3392170"/>
            <a:ext cx="2934970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GraspNet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生成的抓取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姿态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7" name="图片 18"/>
          <p:cNvPicPr/>
          <p:nvPr/>
        </p:nvPicPr>
        <p:blipFill>
          <a:blip r:embed="rId10"/>
          <a:srcRect l="68911" t="43071" r="10945" b="25823"/>
          <a:stretch>
            <a:fillRect/>
          </a:stretch>
        </p:blipFill>
        <p:spPr>
          <a:xfrm>
            <a:off x="1143000" y="3766820"/>
            <a:ext cx="2934335" cy="24936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3041015"/>
            <a:ext cx="12192635" cy="3862070"/>
          </a:xfrm>
          <a:prstGeom prst="rect">
            <a:avLst/>
          </a:prstGeom>
        </p:spPr>
      </p:pic>
      <p:sp>
        <p:nvSpPr>
          <p:cNvPr id="4" name="AutoShape 4"/>
          <p:cNvSpPr/>
          <p:nvPr>
            <p:custDataLst>
              <p:tags r:id="rId2"/>
            </p:custDataLst>
          </p:nvPr>
        </p:nvSpPr>
        <p:spPr>
          <a:xfrm>
            <a:off x="228600" y="1176020"/>
            <a:ext cx="5257165" cy="1443355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</p:sp>
      <p:sp>
        <p:nvSpPr>
          <p:cNvPr id="5" name="TextBox 5"/>
          <p:cNvSpPr txBox="1"/>
          <p:nvPr>
            <p:custDataLst>
              <p:tags r:id="rId3"/>
            </p:custDataLst>
          </p:nvPr>
        </p:nvSpPr>
        <p:spPr>
          <a:xfrm>
            <a:off x="351790" y="1294130"/>
            <a:ext cx="5001895" cy="441325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运动模块</a:t>
            </a:r>
            <a:r>
              <a:rPr lang="zh-CN" altLang="en-US" sz="20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流程</a:t>
            </a:r>
            <a:endParaRPr lang="zh-CN" altLang="en-US" sz="20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6" name="TextBox 6"/>
          <p:cNvSpPr txBox="1"/>
          <p:nvPr>
            <p:custDataLst>
              <p:tags r:id="rId4"/>
            </p:custDataLst>
          </p:nvPr>
        </p:nvSpPr>
        <p:spPr>
          <a:xfrm>
            <a:off x="381000" y="1676400"/>
            <a:ext cx="4392930" cy="897890"/>
          </a:xfrm>
          <a:prstGeom prst="rect">
            <a:avLst/>
          </a:prstGeom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接收数据：监听并接收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后端数据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运动控制：控制机械臂完成</a:t>
            </a:r>
            <a:r>
              <a:rPr lang="zh-CN" altLang="en-US" b="1">
                <a:solidFill>
                  <a:schemeClr val="dk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抓取</a:t>
            </a:r>
            <a:endParaRPr lang="zh-CN" altLang="en-US" b="1">
              <a:solidFill>
                <a:schemeClr val="dk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4" name="Connector 2"/>
          <p:cNvCxnSpPr/>
          <p:nvPr/>
        </p:nvCxnSpPr>
        <p:spPr>
          <a:xfrm>
            <a:off x="5714514" y="1185861"/>
            <a:ext cx="0" cy="5520055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5" name="Connector 2"/>
          <p:cNvCxnSpPr/>
          <p:nvPr/>
        </p:nvCxnSpPr>
        <p:spPr>
          <a:xfrm>
            <a:off x="6070749" y="1176336"/>
            <a:ext cx="0" cy="556260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1" name="TextBox 61"/>
          <p:cNvSpPr txBox="1"/>
          <p:nvPr/>
        </p:nvSpPr>
        <p:spPr>
          <a:xfrm>
            <a:off x="-635" y="-635"/>
            <a:ext cx="4442460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altLang="zh-CN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2.3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运动控制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AutoShape 4"/>
          <p:cNvSpPr/>
          <p:nvPr>
            <p:custDataLst>
              <p:tags r:id="rId5"/>
            </p:custDataLst>
          </p:nvPr>
        </p:nvSpPr>
        <p:spPr>
          <a:xfrm>
            <a:off x="6248400" y="1143000"/>
            <a:ext cx="5389245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接收处理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Yolo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图片 10"/>
          <p:cNvPicPr/>
          <p:nvPr/>
        </p:nvPicPr>
        <p:blipFill>
          <a:blip r:embed="rId6"/>
          <a:srcRect r="30780"/>
          <a:stretch>
            <a:fillRect/>
          </a:stretch>
        </p:blipFill>
        <p:spPr>
          <a:xfrm>
            <a:off x="6248400" y="1546860"/>
            <a:ext cx="5394960" cy="224282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AutoShape 4"/>
          <p:cNvSpPr/>
          <p:nvPr>
            <p:custDataLst>
              <p:tags r:id="rId7"/>
            </p:custDataLst>
          </p:nvPr>
        </p:nvSpPr>
        <p:spPr>
          <a:xfrm>
            <a:off x="6236970" y="4034155"/>
            <a:ext cx="5389245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接收处理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GraspNet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图片 12"/>
          <p:cNvPicPr/>
          <p:nvPr/>
        </p:nvPicPr>
        <p:blipFill>
          <a:blip r:embed="rId8"/>
          <a:srcRect l="3634" r="4977"/>
          <a:stretch>
            <a:fillRect/>
          </a:stretch>
        </p:blipFill>
        <p:spPr>
          <a:xfrm>
            <a:off x="6236335" y="4419600"/>
            <a:ext cx="5391785" cy="219900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AutoShape 4"/>
          <p:cNvSpPr/>
          <p:nvPr>
            <p:custDataLst>
              <p:tags r:id="rId9"/>
            </p:custDataLst>
          </p:nvPr>
        </p:nvSpPr>
        <p:spPr>
          <a:xfrm>
            <a:off x="228600" y="2717165"/>
            <a:ext cx="5257800" cy="432435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控制机械臂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运动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8600" y="3110865"/>
            <a:ext cx="5257165" cy="35318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5" y="3041015"/>
            <a:ext cx="12192635" cy="3862070"/>
          </a:xfrm>
          <a:prstGeom prst="rect">
            <a:avLst/>
          </a:prstGeom>
        </p:spPr>
      </p:pic>
      <p:sp>
        <p:nvSpPr>
          <p:cNvPr id="3" name="TextBox 3"/>
          <p:cNvSpPr txBox="1"/>
          <p:nvPr>
            <p:custDataLst>
              <p:tags r:id="rId3"/>
            </p:custDataLst>
          </p:nvPr>
        </p:nvSpPr>
        <p:spPr>
          <a:xfrm>
            <a:off x="4559935" y="1430655"/>
            <a:ext cx="2099945" cy="512445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一、场景</a:t>
            </a: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搭建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5" name="TextBox 5"/>
          <p:cNvSpPr txBox="1"/>
          <p:nvPr>
            <p:custDataLst>
              <p:tags r:id="rId4"/>
            </p:custDataLst>
          </p:nvPr>
        </p:nvSpPr>
        <p:spPr>
          <a:xfrm>
            <a:off x="8148955" y="1430655"/>
            <a:ext cx="2018665" cy="434975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二、模块集成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7" name="TextBox 7"/>
          <p:cNvSpPr txBox="1"/>
          <p:nvPr>
            <p:custDataLst>
              <p:tags r:id="rId5"/>
            </p:custDataLst>
          </p:nvPr>
        </p:nvSpPr>
        <p:spPr>
          <a:xfrm>
            <a:off x="4559935" y="3550920"/>
            <a:ext cx="3281045" cy="485775"/>
          </a:xfrm>
          <a:prstGeom prst="rect">
            <a:avLst/>
          </a:prstGeom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三、</a:t>
            </a:r>
            <a:r>
              <a:rPr lang="zh-CN" altLang="en-US" sz="2400" b="1">
                <a:solidFill>
                  <a:schemeClr val="accent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实验测试</a:t>
            </a:r>
            <a:endParaRPr lang="zh-CN" altLang="en-US" sz="2400" b="1">
              <a:solidFill>
                <a:schemeClr val="accent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4572000" y="1976755"/>
            <a:ext cx="3335655" cy="1540510"/>
          </a:xfrm>
          <a:prstGeom prst="rect">
            <a:avLst/>
          </a:prstGeom>
        </p:spPr>
        <p:txBody>
          <a:bodyPr>
            <a:noAutofit/>
          </a:bodyPr>
          <a:p>
            <a:pPr algn="just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在环境中搭建机器人工作场景，包括机械臂模型、目标物体及光照与物理设置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AutoShape 12"/>
          <p:cNvSpPr/>
          <p:nvPr>
            <p:custDataLst>
              <p:tags r:id="rId7"/>
            </p:custDataLst>
          </p:nvPr>
        </p:nvSpPr>
        <p:spPr>
          <a:xfrm>
            <a:off x="4559935" y="1430655"/>
            <a:ext cx="3409950" cy="2024380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  <p:txBody>
          <a:bodyPr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AutoShape 12"/>
          <p:cNvSpPr/>
          <p:nvPr>
            <p:custDataLst>
              <p:tags r:id="rId8"/>
            </p:custDataLst>
          </p:nvPr>
        </p:nvSpPr>
        <p:spPr>
          <a:xfrm>
            <a:off x="8153400" y="1430655"/>
            <a:ext cx="3648075" cy="2023745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6" name="AutoShape 12"/>
          <p:cNvSpPr/>
          <p:nvPr>
            <p:custDataLst>
              <p:tags r:id="rId9"/>
            </p:custDataLst>
          </p:nvPr>
        </p:nvSpPr>
        <p:spPr>
          <a:xfrm>
            <a:off x="4559935" y="3550920"/>
            <a:ext cx="7231380" cy="1655445"/>
          </a:xfrm>
          <a:prstGeom prst="rect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61" name="TextBox 61"/>
          <p:cNvSpPr txBox="1"/>
          <p:nvPr/>
        </p:nvSpPr>
        <p:spPr>
          <a:xfrm>
            <a:off x="-635" y="-635"/>
            <a:ext cx="3568700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altLang="zh-CN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集成与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0"/>
            </p:custDataLst>
          </p:nvPr>
        </p:nvSpPr>
        <p:spPr>
          <a:xfrm>
            <a:off x="8148955" y="1981200"/>
            <a:ext cx="3407410" cy="1431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将功能模块在虚拟环境中组合运行，实现数据传递与功能协同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，形成完整的系统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530725" y="4036695"/>
            <a:ext cx="7064375" cy="848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在虚拟环境中运行集成系统，去完成机械臂抓取任务实验，通过记录数据进行评估验证与</a:t>
            </a:r>
            <a:r>
              <a:rPr lang="zh-CN" altLang="en-US" sz="22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测试。</a:t>
            </a:r>
            <a:endParaRPr lang="zh-CN" altLang="en-US" sz="22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AutoShape 7"/>
          <p:cNvSpPr/>
          <p:nvPr>
            <p:custDataLst>
              <p:tags r:id="rId11"/>
            </p:custDataLst>
          </p:nvPr>
        </p:nvSpPr>
        <p:spPr>
          <a:xfrm>
            <a:off x="152400" y="4572000"/>
            <a:ext cx="4228465" cy="624840"/>
          </a:xfrm>
          <a:prstGeom prst="roundRect">
            <a:avLst>
              <a:gd name="adj" fmla="val 16667"/>
            </a:avLst>
          </a:prstGeom>
          <a:solidFill>
            <a:schemeClr val="lt2">
              <a:alpha val="100000"/>
            </a:schemeClr>
          </a:solidFill>
        </p:spPr>
        <p:txBody>
          <a:bodyPr/>
          <a:p>
            <a:pPr algn="ctr"/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unity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环境搭建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00" y="1430655"/>
            <a:ext cx="4228465" cy="31197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任意多边形: 形状 2"/>
          <p:cNvSpPr/>
          <p:nvPr>
            <p:custDataLst>
              <p:tags r:id="rId1"/>
            </p:custDataLst>
          </p:nvPr>
        </p:nvSpPr>
        <p:spPr>
          <a:xfrm>
            <a:off x="0" y="3753958"/>
            <a:ext cx="12192000" cy="2785164"/>
          </a:xfrm>
          <a:custGeom>
            <a:avLst/>
            <a:gdLst>
              <a:gd name="connsiteX0" fmla="*/ 12157881 w 12157880"/>
              <a:gd name="connsiteY0" fmla="*/ 0 h 3034262"/>
              <a:gd name="connsiteX1" fmla="*/ 0 w 12157880"/>
              <a:gd name="connsiteY1" fmla="*/ 2361219 h 3034262"/>
              <a:gd name="connsiteX2" fmla="*/ 0 w 12157880"/>
              <a:gd name="connsiteY2" fmla="*/ 3034263 h 3034262"/>
              <a:gd name="connsiteX3" fmla="*/ 12154696 w 12157880"/>
              <a:gd name="connsiteY3" fmla="*/ 3034263 h 3034262"/>
              <a:gd name="connsiteX4" fmla="*/ 12157881 w 12157880"/>
              <a:gd name="connsiteY4" fmla="*/ 0 h 303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7880" h="3034262">
                <a:moveTo>
                  <a:pt x="12157881" y="0"/>
                </a:moveTo>
                <a:cubicBezTo>
                  <a:pt x="7303145" y="2609769"/>
                  <a:pt x="0" y="2361219"/>
                  <a:pt x="0" y="2361219"/>
                </a:cubicBezTo>
                <a:lnTo>
                  <a:pt x="0" y="3034263"/>
                </a:lnTo>
                <a:lnTo>
                  <a:pt x="12154696" y="3034263"/>
                </a:lnTo>
                <a:lnTo>
                  <a:pt x="12157881" y="0"/>
                </a:lnTo>
                <a:close/>
              </a:path>
            </a:pathLst>
          </a:custGeom>
          <a:gradFill flip="none" rotWithShape="1">
            <a:gsLst>
              <a:gs pos="100000">
                <a:schemeClr val="accent1">
                  <a:alpha val="80000"/>
                  <a:lumMod val="50000"/>
                  <a:lumOff val="50000"/>
                </a:schemeClr>
              </a:gs>
              <a:gs pos="0">
                <a:schemeClr val="accent1">
                  <a:alpha val="10000"/>
                  <a:lumMod val="50000"/>
                  <a:lumOff val="50000"/>
                </a:schemeClr>
              </a:gs>
            </a:gsLst>
            <a:lin ang="0" scaled="1"/>
            <a:tileRect/>
          </a:gradFill>
          <a:ln w="2274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多边形: 形状 3"/>
          <p:cNvSpPr/>
          <p:nvPr>
            <p:custDataLst>
              <p:tags r:id="rId2"/>
            </p:custDataLst>
          </p:nvPr>
        </p:nvSpPr>
        <p:spPr>
          <a:xfrm>
            <a:off x="0" y="4072836"/>
            <a:ext cx="12192000" cy="2785164"/>
          </a:xfrm>
          <a:custGeom>
            <a:avLst/>
            <a:gdLst>
              <a:gd name="connsiteX0" fmla="*/ 12157881 w 12157880"/>
              <a:gd name="connsiteY0" fmla="*/ 0 h 3034262"/>
              <a:gd name="connsiteX1" fmla="*/ 0 w 12157880"/>
              <a:gd name="connsiteY1" fmla="*/ 2361219 h 3034262"/>
              <a:gd name="connsiteX2" fmla="*/ 0 w 12157880"/>
              <a:gd name="connsiteY2" fmla="*/ 3034263 h 3034262"/>
              <a:gd name="connsiteX3" fmla="*/ 12154696 w 12157880"/>
              <a:gd name="connsiteY3" fmla="*/ 3034263 h 3034262"/>
              <a:gd name="connsiteX4" fmla="*/ 12157881 w 12157880"/>
              <a:gd name="connsiteY4" fmla="*/ 0 h 3034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57880" h="3034262">
                <a:moveTo>
                  <a:pt x="12157881" y="0"/>
                </a:moveTo>
                <a:cubicBezTo>
                  <a:pt x="7303145" y="2609769"/>
                  <a:pt x="0" y="2361219"/>
                  <a:pt x="0" y="2361219"/>
                </a:cubicBezTo>
                <a:lnTo>
                  <a:pt x="0" y="3034263"/>
                </a:lnTo>
                <a:lnTo>
                  <a:pt x="12154696" y="3034263"/>
                </a:lnTo>
                <a:lnTo>
                  <a:pt x="12157881" y="0"/>
                </a:lnTo>
                <a:close/>
              </a:path>
            </a:pathLst>
          </a:custGeom>
          <a:gradFill>
            <a:gsLst>
              <a:gs pos="30000">
                <a:schemeClr val="accent1">
                  <a:lumMod val="60000"/>
                  <a:lumOff val="40000"/>
                </a:schemeClr>
              </a:gs>
              <a:gs pos="100000">
                <a:schemeClr val="accent1"/>
              </a:gs>
            </a:gsLst>
            <a:lin ang="0" scaled="1"/>
          </a:gradFill>
          <a:ln w="22746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-635" y="-635"/>
            <a:ext cx="4043045" cy="1078865"/>
          </a:xfrm>
          <a:prstGeom prst="rect">
            <a:avLst/>
          </a:prstGeom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四、成果</a:t>
            </a:r>
            <a:r>
              <a:rPr lang="zh-CN" altLang="en-US" sz="4000" b="1">
                <a:solidFill>
                  <a:schemeClr val="dk2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展示</a:t>
            </a:r>
            <a:endParaRPr lang="zh-CN" altLang="en-US" sz="4000" b="1">
              <a:solidFill>
                <a:schemeClr val="dk2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13" name="AutoShape 4"/>
          <p:cNvSpPr/>
          <p:nvPr>
            <p:custDataLst>
              <p:tags r:id="rId3"/>
            </p:custDataLst>
          </p:nvPr>
        </p:nvSpPr>
        <p:spPr>
          <a:xfrm>
            <a:off x="304800" y="1066800"/>
            <a:ext cx="3216910" cy="449580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论文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65" y="1516380"/>
            <a:ext cx="3217545" cy="4800600"/>
          </a:xfrm>
          <a:prstGeom prst="rect">
            <a:avLst/>
          </a:prstGeom>
        </p:spPr>
      </p:pic>
      <p:sp>
        <p:nvSpPr>
          <p:cNvPr id="2" name="AutoShape 4"/>
          <p:cNvSpPr/>
          <p:nvPr>
            <p:custDataLst>
              <p:tags r:id="rId5"/>
            </p:custDataLst>
          </p:nvPr>
        </p:nvSpPr>
        <p:spPr>
          <a:xfrm>
            <a:off x="3672205" y="1066800"/>
            <a:ext cx="7959090" cy="481330"/>
          </a:xfrm>
          <a:prstGeom prst="roundRect">
            <a:avLst>
              <a:gd name="adj" fmla="val 16667"/>
            </a:avLst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dk1"/>
          </a:fontRef>
        </p:style>
        <p:txBody>
          <a:bodyPr/>
          <a:p>
            <a:pPr algn="ctr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虚拟仿真环境机器人抓取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Graduation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3672840" y="1548130"/>
            <a:ext cx="7976235" cy="476821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alphaModFix amt="100000"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0790" y="2357769"/>
            <a:ext cx="7924800" cy="1776095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000" b="1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THANKS</a:t>
            </a:r>
            <a:endParaRPr lang="en-US" sz="9000" b="1">
              <a:solidFill>
                <a:srgbClr val="1F1F1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40790" y="4217109"/>
            <a:ext cx="4943475" cy="628650"/>
          </a:xfrm>
          <a:prstGeom prst="rect">
            <a:avLst/>
          </a:prstGeom>
        </p:spPr>
        <p:txBody>
          <a:bodyPr vert="horz" wrap="square" lIns="114300" tIns="57150" rIns="114300" bIns="57150" rtlCol="0" anchor="ctr" anchorCtr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sz="2700">
                <a:solidFill>
                  <a:srgbClr val="1F1F1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Noto Sans SC" panose="020B0200000000000000" charset="-122"/>
              </a:rPr>
              <a:t>感谢观看</a:t>
            </a:r>
            <a:endParaRPr lang="en-US" sz="2700">
              <a:solidFill>
                <a:srgbClr val="1F1F1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6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7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8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9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10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11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12.xml><?xml version="1.0" encoding="utf-8"?>
<p:tagLst xmlns:p="http://schemas.openxmlformats.org/presentationml/2006/main">
  <p:tag name="KSO_WM_DIAGRAM_VIRTUALLY_FRAME" val="{&quot;height&quot;:338.0599090304519,&quot;left&quot;:337.98173228346457,&quot;top&quot;:112.11078740157481,&quot;width&quot;:517.9182677165354}"/>
</p:tagLst>
</file>

<file path=ppt/tags/tag13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44.5674803149607}"/>
</p:tagLst>
</file>

<file path=ppt/tags/tag14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589.8128346456693}"/>
</p:tagLst>
</file>

<file path=ppt/tags/tag15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589.8128346456693}"/>
</p:tagLst>
</file>

<file path=ppt/tags/tag16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589.8128346456693}"/>
</p:tagLst>
</file>

<file path=ppt/tags/tag17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18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19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0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1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2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3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4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5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6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7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8.xml><?xml version="1.0" encoding="utf-8"?>
<p:tagLst xmlns:p="http://schemas.openxmlformats.org/presentationml/2006/main">
  <p:tag name="KSO_WM_DIAGRAM_VIRTUALLY_FRAME" val="{&quot;height&quot;:414.89543307086615,&quot;left&quot;:351.98716535433067,&quot;top&quot;:92.90771653543307,&quot;width&quot;:608.0628346456693}"/>
</p:tagLst>
</file>

<file path=ppt/tags/tag29.xml><?xml version="1.0" encoding="utf-8"?>
<p:tagLst xmlns:p="http://schemas.openxmlformats.org/presentationml/2006/main">
  <p:tag name="KSO_WM_DIAGRAM_VIRTUALLY_FRAME" val="{&quot;height&quot;:453.03525659412264,&quot;left&quot;:66.07204724409448,&quot;top&quot;:103.0147244094488,&quot;width&quot;:828.3638582677165}"/>
</p:tagLst>
</file>

<file path=ppt/tags/tag30.xml><?xml version="1.0" encoding="utf-8"?>
<p:tagLst xmlns:p="http://schemas.openxmlformats.org/presentationml/2006/main">
  <p:tag name="KSO_WM_DIAGRAM_VIRTUALLY_FRAME" val="{&quot;height&quot;:453.03525659412264,&quot;left&quot;:66.07204724409448,&quot;top&quot;:103.0147244094488,&quot;width&quot;:828.3638582677165}"/>
</p:tagLst>
</file>

<file path=ppt/tags/tag31.xml><?xml version="1.0" encoding="utf-8"?>
<p:tagLst xmlns:p="http://schemas.openxmlformats.org/presentationml/2006/main">
  <p:tag name="KSO_WM_DIAGRAM_VIRTUALLY_FRAME" val="{&quot;height&quot;:453.03525659412264,&quot;left&quot;:66.07204724409448,&quot;top&quot;:103.0147244094488,&quot;width&quot;:828.3638582677165}"/>
</p:tagLst>
</file>

<file path=ppt/tags/tag32.xml><?xml version="1.0" encoding="utf-8"?>
<p:tagLst xmlns:p="http://schemas.openxmlformats.org/presentationml/2006/main">
  <p:tag name="KSO_WM_DIAGRAM_VIRTUALLY_FRAME" val="{&quot;height&quot;:453.03525659412264,&quot;left&quot;:66.07204724409448,&quot;top&quot;:103.0147244094488,&quot;width&quot;:828.3638582677165}"/>
</p:tagLst>
</file>

<file path=ppt/tags/tag33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34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35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36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37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38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39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0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1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2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3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4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5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6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7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8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49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50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51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86.9953543307087}"/>
</p:tagLst>
</file>

<file path=ppt/tags/tag52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86.9953543307087}"/>
</p:tagLst>
</file>

<file path=ppt/tags/tag53.xml><?xml version="1.0" encoding="utf-8"?>
<p:tagLst xmlns:p="http://schemas.openxmlformats.org/presentationml/2006/main">
  <p:tag name="KSO_WM_DIAGRAM_VIRTUALLY_FRAME" val="{&quot;height&quot;:469.3363870283004,&quot;left&quot;:-6.7,&quot;top&quot;:28.60503029453421,&quot;width&quot;:697.5984479999743}"/>
</p:tagLst>
</file>

<file path=ppt/tags/tag54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86.9953543307087}"/>
</p:tagLst>
</file>

<file path=ppt/tags/tag55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86.9953543307087}"/>
</p:tagLst>
</file>

<file path=ppt/tags/tag56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86.9953543307087}"/>
</p:tagLst>
</file>

<file path=ppt/tags/tag57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44.5674803149607}"/>
</p:tagLst>
</file>

<file path=ppt/tags/tag58.xml><?xml version="1.0" encoding="utf-8"?>
<p:tagLst xmlns:p="http://schemas.openxmlformats.org/presentationml/2006/main">
  <p:tag name="KSO_WM_DIAGRAM_VIRTUALLY_FRAME" val="{&quot;height&quot;:400.8374015748031,&quot;left&quot;:42.254645669291335,&quot;top&quot;:98.44425196850393,&quot;width&quot;:886.9953543307087}"/>
</p:tagLst>
</file>

<file path=ppt/tags/tag59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34958_1*i*1"/>
  <p:tag name="KSO_WM_TEMPLATE_CATEGORY" val="custom"/>
  <p:tag name="KSO_WM_TEMPLATE_INDEX" val="20234958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custom20234958_1*i*2"/>
  <p:tag name="KSO_WM_TEMPLATE_CATEGORY" val="custom"/>
  <p:tag name="KSO_WM_TEMPLATE_INDEX" val="20234958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63.xml><?xml version="1.0" encoding="utf-8"?>
<p:tagLst xmlns:p="http://schemas.openxmlformats.org/presentationml/2006/main">
  <p:tag name="KSO_WM_DIAGRAM_VIRTUALLY_FRAME" val="{&quot;height&quot;:353.1734645669293,&quot;left&quot;:6.012508121459268,&quot;top&quot;:90.42653543307078,&quot;width&quot;:926.9874918785408}"/>
</p:tagLst>
</file>

<file path=ppt/tags/tag64.xml><?xml version="1.0" encoding="utf-8"?>
<p:tagLst xmlns:p="http://schemas.openxmlformats.org/presentationml/2006/main">
  <p:tag name="KSO_WM_SLIDE_ID" val="custom20234958_1"/>
  <p:tag name="KSO_WM_TEMPLATE_SUBCATEGORY" val="0"/>
  <p:tag name="KSO_WM_TEMPLATE_MASTER_TYPE" val="0"/>
  <p:tag name="KSO_WM_TEMPLATE_COLOR_TYPE" val="0"/>
  <p:tag name="KSO_WM_SLIDE_TYPE" val="text"/>
  <p:tag name="KSO_WM_SLIDE_SUBTYPE" val="picTxt"/>
  <p:tag name="KSO_WM_SLIDE_ITEM_CNT" val="0"/>
  <p:tag name="KSO_WM_SLIDE_INDEX" val="1"/>
  <p:tag name="KSO_WM_SLIDE_SIZE" val="960*492"/>
  <p:tag name="KSO_WM_SLIDE_POSITION" val="0*47"/>
  <p:tag name="KSO_WM_TAG_VERSION" val="3.0"/>
  <p:tag name="KSO_WM_BEAUTIFY_FLAG" val="#wm#"/>
  <p:tag name="KSO_WM_TEMPLATE_CATEGORY" val="custom"/>
  <p:tag name="KSO_WM_TEMPLATE_INDEX" val="20234958"/>
  <p:tag name="KSO_WM_SLIDE_LAYOUT" val="a_f_α"/>
  <p:tag name="KSO_WM_SLIDE_LAYOUT_CNT" val="1_1_1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1F1F1F"/>
      </a:dk1>
      <a:lt1>
        <a:srgbClr val="F7F7F7"/>
      </a:lt1>
      <a:dk2>
        <a:srgbClr val="1F1F1F"/>
      </a:dk2>
      <a:lt2>
        <a:srgbClr val="CEDFEF"/>
      </a:lt2>
      <a:accent1>
        <a:srgbClr val="6EA8D0"/>
      </a:accent1>
      <a:accent2>
        <a:srgbClr val="6EA8D0"/>
      </a:accent2>
      <a:accent3>
        <a:srgbClr val="3C7DA9"/>
      </a:accent3>
      <a:accent4>
        <a:srgbClr val="5194C3"/>
      </a:accent4>
      <a:accent5>
        <a:srgbClr val="78C2D1"/>
      </a:accent5>
      <a:accent6>
        <a:srgbClr val="4289C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927</Words>
  <Application>WPS 演示</Application>
  <PresentationFormat>On-screen Show (4:3)</PresentationFormat>
  <Paragraphs>157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Noto Sans SC</vt:lpstr>
      <vt:lpstr>黑体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谢荣</cp:lastModifiedBy>
  <cp:revision>30</cp:revision>
  <dcterms:created xsi:type="dcterms:W3CDTF">2006-08-16T00:00:00Z</dcterms:created>
  <dcterms:modified xsi:type="dcterms:W3CDTF">2026-05-07T16:49:25Z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001191110000802100433B10001","ProduceID":"7618d05860c37b20eb3e756604e645ac_1761555235_8848d0282aa740eba737daf9e77f6373","ReservedCode1":"24f0135b0fced9ccaee8cf6e6fff5dcc146abf4fca1c57dfd98c1aad863562b3","ContentPropagator":"001191110000802100433B10001","PropagateID":"7618d05860c37b20eb3e756604e645ac_1761555235_8848d0282aa740eba737daf9e77f6373","ReservedCode2":"24f0135b0fced9ccaee8cf6e6fff5dcc146abf4fca1c57dfd98c1aad863562b3"}</vt:lpwstr>
  </property>
  <property fmtid="{D5CDD505-2E9C-101B-9397-08002B2CF9AE}" pid="3" name="ICV">
    <vt:lpwstr>24CB5D202414415C822E1BCFFD62B734_13</vt:lpwstr>
  </property>
  <property fmtid="{D5CDD505-2E9C-101B-9397-08002B2CF9AE}" pid="4" name="KSOProductBuildVer">
    <vt:lpwstr>2052-12.1.0.25865</vt:lpwstr>
  </property>
</Properties>
</file>